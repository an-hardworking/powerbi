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7FF"/>
    <a:srgbClr val="001647"/>
    <a:srgbClr val="F1F5FC"/>
    <a:srgbClr val="6AAEFE"/>
    <a:srgbClr val="E6EFFD"/>
    <a:srgbClr val="E2F0FF"/>
    <a:srgbClr val="E2EAFD"/>
    <a:srgbClr val="E8EDFF"/>
    <a:srgbClr val="6FAAF8"/>
    <a:srgbClr val="71A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50" d="100"/>
          <a:sy n="50" d="100"/>
        </p:scale>
        <p:origin x="65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5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3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8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7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58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1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9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9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38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92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DD2F8A6-B6EA-4648-AB1A-64867F7833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61CBC4E-4BC1-45F0-8BD1-067F0878EA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6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659F3-6BEA-F26C-27FF-A65A5113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B7335B9-D3B7-1819-2655-1A9F786410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861" t="-1" r="1016" b="461"/>
          <a:stretch>
            <a:fillRect/>
          </a:stretch>
        </p:blipFill>
        <p:spPr>
          <a:xfrm>
            <a:off x="0" y="-58242"/>
            <a:ext cx="12191999" cy="6987838"/>
          </a:xfrm>
          <a:prstGeom prst="rect">
            <a:avLst/>
          </a:prstGeom>
          <a:solidFill>
            <a:srgbClr val="6AAEFE"/>
          </a:solidFill>
        </p:spPr>
      </p:pic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109B9A8B-B220-7A3B-3C7A-D19A6AAC8860}"/>
              </a:ext>
            </a:extLst>
          </p:cNvPr>
          <p:cNvSpPr/>
          <p:nvPr/>
        </p:nvSpPr>
        <p:spPr>
          <a:xfrm>
            <a:off x="64769" y="83938"/>
            <a:ext cx="12062460" cy="6703477"/>
          </a:xfrm>
          <a:prstGeom prst="roundRect">
            <a:avLst>
              <a:gd name="adj" fmla="val 867"/>
            </a:avLst>
          </a:prstGeom>
          <a:solidFill>
            <a:srgbClr val="E6EFFD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50800" dir="5400000" sx="94000" sy="94000" algn="ctr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C5A90194-68DF-299D-7EC5-81640998FC3A}"/>
              </a:ext>
            </a:extLst>
          </p:cNvPr>
          <p:cNvSpPr/>
          <p:nvPr/>
        </p:nvSpPr>
        <p:spPr>
          <a:xfrm>
            <a:off x="1303021" y="158868"/>
            <a:ext cx="10756458" cy="6520228"/>
          </a:xfrm>
          <a:prstGeom prst="roundRect">
            <a:avLst>
              <a:gd name="adj" fmla="val 1440"/>
            </a:avLst>
          </a:prstGeom>
          <a:solidFill>
            <a:srgbClr val="FBFBFB"/>
          </a:solidFill>
          <a:ln>
            <a:noFill/>
          </a:ln>
          <a:effectLst>
            <a:outerShdw blurRad="101600" dist="50800" dir="5400000" sx="94000" sy="94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fik 5" descr="Tiago Dalvi - CEO &amp; Fundador da Olist | LinkedIn">
            <a:extLst>
              <a:ext uri="{FF2B5EF4-FFF2-40B4-BE49-F238E27FC236}">
                <a16:creationId xmlns:a16="http://schemas.microsoft.com/office/drawing/2014/main" id="{F0474222-359D-D632-2DBC-37CB0A2EC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334" y="1336312"/>
            <a:ext cx="3761599" cy="1070156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7B23E18-09E1-FCA1-46CF-D934C7F7342F}"/>
              </a:ext>
            </a:extLst>
          </p:cNvPr>
          <p:cNvSpPr/>
          <p:nvPr/>
        </p:nvSpPr>
        <p:spPr>
          <a:xfrm>
            <a:off x="1422382" y="887610"/>
            <a:ext cx="898958" cy="1159714"/>
          </a:xfrm>
          <a:prstGeom prst="roundRect">
            <a:avLst>
              <a:gd name="adj" fmla="val 6239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BB732A2-B544-54A5-A460-963F1C1CA499}"/>
              </a:ext>
            </a:extLst>
          </p:cNvPr>
          <p:cNvSpPr txBox="1"/>
          <p:nvPr/>
        </p:nvSpPr>
        <p:spPr>
          <a:xfrm>
            <a:off x="1422382" y="220425"/>
            <a:ext cx="5052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00164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Overview 01/2017 – 08/2018</a:t>
            </a:r>
            <a:endParaRPr lang="en-US" sz="2800" b="1" dirty="0">
              <a:solidFill>
                <a:srgbClr val="00164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6DDE81B-8A3B-82C5-9EB9-EEFF14CC694A}"/>
              </a:ext>
            </a:extLst>
          </p:cNvPr>
          <p:cNvSpPr/>
          <p:nvPr/>
        </p:nvSpPr>
        <p:spPr>
          <a:xfrm>
            <a:off x="1422382" y="3371486"/>
            <a:ext cx="5912214" cy="3266089"/>
          </a:xfrm>
          <a:prstGeom prst="roundRect">
            <a:avLst>
              <a:gd name="adj" fmla="val 2063"/>
            </a:avLst>
          </a:prstGeom>
          <a:solidFill>
            <a:srgbClr val="E6EFFD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4C9D1545-471C-DD28-9A1D-DC347BC04982}"/>
              </a:ext>
            </a:extLst>
          </p:cNvPr>
          <p:cNvSpPr/>
          <p:nvPr/>
        </p:nvSpPr>
        <p:spPr>
          <a:xfrm>
            <a:off x="3359785" y="885826"/>
            <a:ext cx="4745310" cy="2403436"/>
          </a:xfrm>
          <a:prstGeom prst="roundRect">
            <a:avLst>
              <a:gd name="adj" fmla="val 1777"/>
            </a:avLst>
          </a:prstGeom>
          <a:solidFill>
            <a:srgbClr val="E6EFFD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3AE47FB0-D285-2945-712A-60EC5ECD7AC3}"/>
              </a:ext>
            </a:extLst>
          </p:cNvPr>
          <p:cNvSpPr/>
          <p:nvPr/>
        </p:nvSpPr>
        <p:spPr>
          <a:xfrm>
            <a:off x="8168340" y="889002"/>
            <a:ext cx="3817920" cy="2400260"/>
          </a:xfrm>
          <a:prstGeom prst="roundRect">
            <a:avLst>
              <a:gd name="adj" fmla="val 1777"/>
            </a:avLst>
          </a:prstGeom>
          <a:solidFill>
            <a:srgbClr val="E6EFFD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F52A81BA-C917-8B1F-B877-194567DC31D5}"/>
              </a:ext>
            </a:extLst>
          </p:cNvPr>
          <p:cNvSpPr/>
          <p:nvPr/>
        </p:nvSpPr>
        <p:spPr>
          <a:xfrm>
            <a:off x="1422382" y="2129548"/>
            <a:ext cx="898958" cy="1159714"/>
          </a:xfrm>
          <a:prstGeom prst="roundRect">
            <a:avLst>
              <a:gd name="adj" fmla="val 6239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51C4EF37-81A6-C2DA-7FCA-5267687FDACB}"/>
              </a:ext>
            </a:extLst>
          </p:cNvPr>
          <p:cNvSpPr/>
          <p:nvPr/>
        </p:nvSpPr>
        <p:spPr>
          <a:xfrm>
            <a:off x="2397582" y="887610"/>
            <a:ext cx="898958" cy="1159714"/>
          </a:xfrm>
          <a:prstGeom prst="roundRect">
            <a:avLst>
              <a:gd name="adj" fmla="val 6239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6F51F9A7-D042-FC8D-4854-7DBF413174F3}"/>
              </a:ext>
            </a:extLst>
          </p:cNvPr>
          <p:cNvSpPr/>
          <p:nvPr/>
        </p:nvSpPr>
        <p:spPr>
          <a:xfrm>
            <a:off x="2397582" y="2129548"/>
            <a:ext cx="898958" cy="1159714"/>
          </a:xfrm>
          <a:prstGeom prst="roundRect">
            <a:avLst>
              <a:gd name="adj" fmla="val 6239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6832C1D-4C6C-E8E6-AA95-9BFCD7A73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9025" y="295472"/>
            <a:ext cx="693737" cy="32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66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1EF5C-FFF6-C4A9-293D-B08686AC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1F73E52-18CA-4B98-62B9-59DBC42D98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861" t="-1" r="1016" b="461"/>
          <a:stretch>
            <a:fillRect/>
          </a:stretch>
        </p:blipFill>
        <p:spPr>
          <a:xfrm>
            <a:off x="0" y="-58242"/>
            <a:ext cx="12191999" cy="6987838"/>
          </a:xfrm>
          <a:prstGeom prst="rect">
            <a:avLst/>
          </a:prstGeom>
          <a:solidFill>
            <a:srgbClr val="6AAEFE"/>
          </a:solidFill>
        </p:spPr>
      </p:pic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A306458-E7C1-C800-0668-7071892EDB17}"/>
              </a:ext>
            </a:extLst>
          </p:cNvPr>
          <p:cNvSpPr/>
          <p:nvPr/>
        </p:nvSpPr>
        <p:spPr>
          <a:xfrm>
            <a:off x="64769" y="83938"/>
            <a:ext cx="12062460" cy="6703477"/>
          </a:xfrm>
          <a:prstGeom prst="roundRect">
            <a:avLst>
              <a:gd name="adj" fmla="val 867"/>
            </a:avLst>
          </a:prstGeom>
          <a:solidFill>
            <a:srgbClr val="E6EFFD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50800" dir="5400000" sx="94000" sy="94000" algn="ctr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CF58DD7-CA87-FAB3-7E74-C82756BBFBAE}"/>
              </a:ext>
            </a:extLst>
          </p:cNvPr>
          <p:cNvSpPr/>
          <p:nvPr/>
        </p:nvSpPr>
        <p:spPr>
          <a:xfrm>
            <a:off x="1303021" y="158868"/>
            <a:ext cx="10756458" cy="6520228"/>
          </a:xfrm>
          <a:prstGeom prst="roundRect">
            <a:avLst>
              <a:gd name="adj" fmla="val 1440"/>
            </a:avLst>
          </a:prstGeom>
          <a:solidFill>
            <a:srgbClr val="FBFBFB"/>
          </a:solidFill>
          <a:ln>
            <a:noFill/>
          </a:ln>
          <a:effectLst>
            <a:outerShdw blurRad="101600" dist="50800" dir="5400000" sx="94000" sy="94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fik 5" descr="Tiago Dalvi - CEO &amp; Fundador da Olist | LinkedIn">
            <a:extLst>
              <a:ext uri="{FF2B5EF4-FFF2-40B4-BE49-F238E27FC236}">
                <a16:creationId xmlns:a16="http://schemas.microsoft.com/office/drawing/2014/main" id="{07CA653B-26C4-F272-1824-9C17CFDE7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334" y="1336312"/>
            <a:ext cx="3761599" cy="1070156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E1830083-C155-47FA-D197-757F8DFE7B50}"/>
              </a:ext>
            </a:extLst>
          </p:cNvPr>
          <p:cNvSpPr/>
          <p:nvPr/>
        </p:nvSpPr>
        <p:spPr>
          <a:xfrm>
            <a:off x="1422382" y="887610"/>
            <a:ext cx="898958" cy="1159714"/>
          </a:xfrm>
          <a:prstGeom prst="roundRect">
            <a:avLst>
              <a:gd name="adj" fmla="val 6239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9E6A14A-6EAF-F243-80B1-2931EF10DE2E}"/>
              </a:ext>
            </a:extLst>
          </p:cNvPr>
          <p:cNvSpPr txBox="1"/>
          <p:nvPr/>
        </p:nvSpPr>
        <p:spPr>
          <a:xfrm>
            <a:off x="1422382" y="220425"/>
            <a:ext cx="6664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00164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Analysis, 01/2017 – 08/2018</a:t>
            </a:r>
            <a:endParaRPr lang="en-US" sz="2800" b="1" dirty="0">
              <a:solidFill>
                <a:srgbClr val="00164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4A4C714-0D3E-206A-894B-B752F4241BCF}"/>
              </a:ext>
            </a:extLst>
          </p:cNvPr>
          <p:cNvSpPr/>
          <p:nvPr/>
        </p:nvSpPr>
        <p:spPr>
          <a:xfrm>
            <a:off x="1422382" y="3371487"/>
            <a:ext cx="2871645" cy="3266088"/>
          </a:xfrm>
          <a:prstGeom prst="roundRect">
            <a:avLst>
              <a:gd name="adj" fmla="val 2063"/>
            </a:avLst>
          </a:prstGeom>
          <a:solidFill>
            <a:srgbClr val="F1F5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9B2D3D4B-B7CD-676A-6BB2-06B2609B76C5}"/>
              </a:ext>
            </a:extLst>
          </p:cNvPr>
          <p:cNvSpPr/>
          <p:nvPr/>
        </p:nvSpPr>
        <p:spPr>
          <a:xfrm>
            <a:off x="1422382" y="2129548"/>
            <a:ext cx="898958" cy="1159714"/>
          </a:xfrm>
          <a:prstGeom prst="roundRect">
            <a:avLst>
              <a:gd name="adj" fmla="val 6239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11287DE1-47B5-B7B6-23AA-5A8AE221B59E}"/>
              </a:ext>
            </a:extLst>
          </p:cNvPr>
          <p:cNvSpPr/>
          <p:nvPr/>
        </p:nvSpPr>
        <p:spPr>
          <a:xfrm>
            <a:off x="2397582" y="885825"/>
            <a:ext cx="3812718" cy="2403437"/>
          </a:xfrm>
          <a:prstGeom prst="roundRect">
            <a:avLst>
              <a:gd name="adj" fmla="val 2063"/>
            </a:avLst>
          </a:prstGeom>
          <a:solidFill>
            <a:srgbClr val="E6EFFD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568E0BCC-229D-AC31-DD30-1C33AC4B0229}"/>
              </a:ext>
            </a:extLst>
          </p:cNvPr>
          <p:cNvSpPr/>
          <p:nvPr/>
        </p:nvSpPr>
        <p:spPr>
          <a:xfrm>
            <a:off x="9275902" y="894260"/>
            <a:ext cx="2743158" cy="2395001"/>
          </a:xfrm>
          <a:prstGeom prst="roundRect">
            <a:avLst>
              <a:gd name="adj" fmla="val 2063"/>
            </a:avLst>
          </a:prstGeom>
          <a:solidFill>
            <a:srgbClr val="E6EFFD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3D363CEE-78E2-0BF3-706F-D9B510461902}"/>
              </a:ext>
            </a:extLst>
          </p:cNvPr>
          <p:cNvSpPr/>
          <p:nvPr/>
        </p:nvSpPr>
        <p:spPr>
          <a:xfrm>
            <a:off x="6286542" y="894261"/>
            <a:ext cx="2917945" cy="2395001"/>
          </a:xfrm>
          <a:prstGeom prst="roundRect">
            <a:avLst>
              <a:gd name="adj" fmla="val 2063"/>
            </a:avLst>
          </a:prstGeom>
          <a:solidFill>
            <a:srgbClr val="E6EFFD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B5FFD17-0785-92B8-855F-348ADED6F8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9025" y="295472"/>
            <a:ext cx="693737" cy="32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60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57EFC-85AC-DFDB-38C3-89EF1F81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672A36B-A6A4-A334-4726-A17E5A7681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861" t="-1" r="1016" b="461"/>
          <a:stretch>
            <a:fillRect/>
          </a:stretch>
        </p:blipFill>
        <p:spPr>
          <a:xfrm>
            <a:off x="0" y="-58242"/>
            <a:ext cx="12191999" cy="6987838"/>
          </a:xfrm>
          <a:prstGeom prst="rect">
            <a:avLst/>
          </a:prstGeom>
          <a:solidFill>
            <a:srgbClr val="6AAEFE"/>
          </a:solidFill>
        </p:spPr>
      </p:pic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3750F0A-19E8-3DA9-ED8F-4567A489DCF7}"/>
              </a:ext>
            </a:extLst>
          </p:cNvPr>
          <p:cNvSpPr/>
          <p:nvPr/>
        </p:nvSpPr>
        <p:spPr>
          <a:xfrm>
            <a:off x="64769" y="83938"/>
            <a:ext cx="12062460" cy="6703477"/>
          </a:xfrm>
          <a:prstGeom prst="roundRect">
            <a:avLst>
              <a:gd name="adj" fmla="val 867"/>
            </a:avLst>
          </a:prstGeom>
          <a:solidFill>
            <a:srgbClr val="E6EFFD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50800" dir="5400000" sx="94000" sy="94000" algn="ctr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AD6B6718-C49E-64C7-0916-F71FE4839D71}"/>
              </a:ext>
            </a:extLst>
          </p:cNvPr>
          <p:cNvSpPr/>
          <p:nvPr/>
        </p:nvSpPr>
        <p:spPr>
          <a:xfrm>
            <a:off x="1303021" y="158868"/>
            <a:ext cx="10756458" cy="6520228"/>
          </a:xfrm>
          <a:prstGeom prst="roundRect">
            <a:avLst>
              <a:gd name="adj" fmla="val 1440"/>
            </a:avLst>
          </a:prstGeom>
          <a:solidFill>
            <a:srgbClr val="FBFBFB"/>
          </a:solidFill>
          <a:ln>
            <a:noFill/>
          </a:ln>
          <a:effectLst>
            <a:outerShdw blurRad="101600" dist="50800" dir="5400000" sx="94000" sy="94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fik 5" descr="Tiago Dalvi - CEO &amp; Fundador da Olist | LinkedIn">
            <a:extLst>
              <a:ext uri="{FF2B5EF4-FFF2-40B4-BE49-F238E27FC236}">
                <a16:creationId xmlns:a16="http://schemas.microsoft.com/office/drawing/2014/main" id="{88B6B665-C4B1-4624-E5D5-519A5256E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334" y="1336312"/>
            <a:ext cx="3761599" cy="107015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9A47663-AD2D-0E30-9977-85C1D785A76B}"/>
              </a:ext>
            </a:extLst>
          </p:cNvPr>
          <p:cNvSpPr txBox="1"/>
          <p:nvPr/>
        </p:nvSpPr>
        <p:spPr>
          <a:xfrm>
            <a:off x="1422382" y="220425"/>
            <a:ext cx="8255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164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Freight &amp; Shipping Analysis, 01/2017 – 08/2018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96AD132D-0A64-E5E7-2105-509EDDFE8BA1}"/>
              </a:ext>
            </a:extLst>
          </p:cNvPr>
          <p:cNvSpPr/>
          <p:nvPr/>
        </p:nvSpPr>
        <p:spPr>
          <a:xfrm>
            <a:off x="1422382" y="3371487"/>
            <a:ext cx="5909751" cy="3266088"/>
          </a:xfrm>
          <a:prstGeom prst="roundRect">
            <a:avLst>
              <a:gd name="adj" fmla="val 2063"/>
            </a:avLst>
          </a:prstGeom>
          <a:solidFill>
            <a:srgbClr val="F1F5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B79F20EE-E14A-D921-3BB7-C51AB1501DAA}"/>
              </a:ext>
            </a:extLst>
          </p:cNvPr>
          <p:cNvSpPr/>
          <p:nvPr/>
        </p:nvSpPr>
        <p:spPr>
          <a:xfrm>
            <a:off x="7455100" y="840062"/>
            <a:ext cx="4563960" cy="2449200"/>
          </a:xfrm>
          <a:prstGeom prst="roundRect">
            <a:avLst>
              <a:gd name="adj" fmla="val 2063"/>
            </a:avLst>
          </a:prstGeom>
          <a:solidFill>
            <a:srgbClr val="E6EFFD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5F01775-E82A-6AA3-F008-A630FE9DA3C2}"/>
              </a:ext>
            </a:extLst>
          </p:cNvPr>
          <p:cNvSpPr/>
          <p:nvPr/>
        </p:nvSpPr>
        <p:spPr>
          <a:xfrm>
            <a:off x="1398248" y="840062"/>
            <a:ext cx="1358918" cy="769440"/>
          </a:xfrm>
          <a:prstGeom prst="roundRect">
            <a:avLst>
              <a:gd name="adj" fmla="val 2913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ECC66681-659E-0AD7-72A3-4BD8F52CF383}"/>
              </a:ext>
            </a:extLst>
          </p:cNvPr>
          <p:cNvSpPr/>
          <p:nvPr/>
        </p:nvSpPr>
        <p:spPr>
          <a:xfrm>
            <a:off x="1398248" y="1677062"/>
            <a:ext cx="1358918" cy="769440"/>
          </a:xfrm>
          <a:prstGeom prst="roundRect">
            <a:avLst>
              <a:gd name="adj" fmla="val 2225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34AEDD3F-4182-0D67-5145-68F5AE802A71}"/>
              </a:ext>
            </a:extLst>
          </p:cNvPr>
          <p:cNvSpPr/>
          <p:nvPr/>
        </p:nvSpPr>
        <p:spPr>
          <a:xfrm>
            <a:off x="2880133" y="840061"/>
            <a:ext cx="4452000" cy="2443441"/>
          </a:xfrm>
          <a:prstGeom prst="roundRect">
            <a:avLst>
              <a:gd name="adj" fmla="val 658"/>
            </a:avLst>
          </a:prstGeom>
          <a:solidFill>
            <a:srgbClr val="E6EFFD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E71C6E2B-79C7-45A2-0303-29938355D5B6}"/>
              </a:ext>
            </a:extLst>
          </p:cNvPr>
          <p:cNvSpPr/>
          <p:nvPr/>
        </p:nvSpPr>
        <p:spPr>
          <a:xfrm>
            <a:off x="1398248" y="2521394"/>
            <a:ext cx="1358918" cy="769440"/>
          </a:xfrm>
          <a:prstGeom prst="roundRect">
            <a:avLst>
              <a:gd name="adj" fmla="val 2225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892684B-588D-2B69-D1FD-09BEC6B66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9025" y="295472"/>
            <a:ext cx="693737" cy="32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1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7BB97-7587-D792-6BC8-E04F5718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B72C69C-57E6-1629-617E-D64D4F8660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861" t="-1" r="1016" b="461"/>
          <a:stretch>
            <a:fillRect/>
          </a:stretch>
        </p:blipFill>
        <p:spPr>
          <a:xfrm>
            <a:off x="0" y="-58242"/>
            <a:ext cx="12191999" cy="6987838"/>
          </a:xfrm>
          <a:prstGeom prst="rect">
            <a:avLst/>
          </a:prstGeom>
          <a:solidFill>
            <a:srgbClr val="6AAEFE"/>
          </a:solidFill>
        </p:spPr>
      </p:pic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4A8732F-DD10-8933-9634-AA083978C6BE}"/>
              </a:ext>
            </a:extLst>
          </p:cNvPr>
          <p:cNvSpPr/>
          <p:nvPr/>
        </p:nvSpPr>
        <p:spPr>
          <a:xfrm>
            <a:off x="64769" y="83938"/>
            <a:ext cx="12062460" cy="6703477"/>
          </a:xfrm>
          <a:prstGeom prst="roundRect">
            <a:avLst>
              <a:gd name="adj" fmla="val 867"/>
            </a:avLst>
          </a:prstGeom>
          <a:solidFill>
            <a:srgbClr val="E6EFFD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50800" dir="5400000" sx="94000" sy="94000" algn="ctr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160A312-B77D-8A4B-B4AC-3F0D4CC3EBE5}"/>
              </a:ext>
            </a:extLst>
          </p:cNvPr>
          <p:cNvSpPr/>
          <p:nvPr/>
        </p:nvSpPr>
        <p:spPr>
          <a:xfrm>
            <a:off x="1303021" y="158868"/>
            <a:ext cx="10756458" cy="6520228"/>
          </a:xfrm>
          <a:prstGeom prst="roundRect">
            <a:avLst>
              <a:gd name="adj" fmla="val 1440"/>
            </a:avLst>
          </a:prstGeom>
          <a:solidFill>
            <a:srgbClr val="FBFBFB"/>
          </a:solidFill>
          <a:ln>
            <a:noFill/>
          </a:ln>
          <a:effectLst>
            <a:outerShdw blurRad="101600" dist="50800" dir="5400000" sx="94000" sy="94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fik 5" descr="Tiago Dalvi - CEO &amp; Fundador da Olist | LinkedIn">
            <a:extLst>
              <a:ext uri="{FF2B5EF4-FFF2-40B4-BE49-F238E27FC236}">
                <a16:creationId xmlns:a16="http://schemas.microsoft.com/office/drawing/2014/main" id="{59736047-99A0-029B-CC1D-A21E430AE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334" y="1336312"/>
            <a:ext cx="3761599" cy="107015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9D24546-5ECE-DF30-3E8A-A0FEC70FEC03}"/>
              </a:ext>
            </a:extLst>
          </p:cNvPr>
          <p:cNvSpPr txBox="1"/>
          <p:nvPr/>
        </p:nvSpPr>
        <p:spPr>
          <a:xfrm>
            <a:off x="1422382" y="220425"/>
            <a:ext cx="7222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164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Delivery Performance, 01/2017 – 08/2018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CDD09C1-9CBB-83C1-DE0E-CF2F01732E75}"/>
              </a:ext>
            </a:extLst>
          </p:cNvPr>
          <p:cNvSpPr/>
          <p:nvPr/>
        </p:nvSpPr>
        <p:spPr>
          <a:xfrm>
            <a:off x="1387498" y="3319722"/>
            <a:ext cx="3388757" cy="3317853"/>
          </a:xfrm>
          <a:prstGeom prst="roundRect">
            <a:avLst>
              <a:gd name="adj" fmla="val 2063"/>
            </a:avLst>
          </a:prstGeom>
          <a:solidFill>
            <a:srgbClr val="F1F5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9D08B9FD-3B3B-5A75-1E02-730C8ABDC449}"/>
              </a:ext>
            </a:extLst>
          </p:cNvPr>
          <p:cNvSpPr/>
          <p:nvPr/>
        </p:nvSpPr>
        <p:spPr>
          <a:xfrm>
            <a:off x="2423801" y="743645"/>
            <a:ext cx="2899313" cy="814092"/>
          </a:xfrm>
          <a:prstGeom prst="roundRect">
            <a:avLst>
              <a:gd name="adj" fmla="val 7846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59B26BDC-DD9D-4C97-C3E5-5654A85B2340}"/>
              </a:ext>
            </a:extLst>
          </p:cNvPr>
          <p:cNvSpPr/>
          <p:nvPr/>
        </p:nvSpPr>
        <p:spPr>
          <a:xfrm>
            <a:off x="1406189" y="2439114"/>
            <a:ext cx="1574105" cy="783294"/>
          </a:xfrm>
          <a:prstGeom prst="roundRect">
            <a:avLst>
              <a:gd name="adj" fmla="val 6939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26BDE3BD-490E-6FDE-8D6E-E970D3540CFF}"/>
              </a:ext>
            </a:extLst>
          </p:cNvPr>
          <p:cNvSpPr/>
          <p:nvPr/>
        </p:nvSpPr>
        <p:spPr>
          <a:xfrm>
            <a:off x="3103261" y="2439114"/>
            <a:ext cx="1574105" cy="770816"/>
          </a:xfrm>
          <a:prstGeom prst="roundRect">
            <a:avLst>
              <a:gd name="adj" fmla="val 6781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E1AF58D-6C4E-7234-6455-5F45A6910879}"/>
              </a:ext>
            </a:extLst>
          </p:cNvPr>
          <p:cNvSpPr/>
          <p:nvPr/>
        </p:nvSpPr>
        <p:spPr>
          <a:xfrm>
            <a:off x="4776255" y="2439114"/>
            <a:ext cx="1574105" cy="783294"/>
          </a:xfrm>
          <a:prstGeom prst="roundRect">
            <a:avLst>
              <a:gd name="adj" fmla="val 5318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F453EBD7-3209-955B-19E2-D34C053C1AB9}"/>
              </a:ext>
            </a:extLst>
          </p:cNvPr>
          <p:cNvSpPr/>
          <p:nvPr/>
        </p:nvSpPr>
        <p:spPr>
          <a:xfrm>
            <a:off x="6443894" y="754602"/>
            <a:ext cx="5549339" cy="2474703"/>
          </a:xfrm>
          <a:prstGeom prst="roundRect">
            <a:avLst>
              <a:gd name="adj" fmla="val 1711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A17FD1A2-B7C7-9F2D-827C-AF072639A501}"/>
              </a:ext>
            </a:extLst>
          </p:cNvPr>
          <p:cNvSpPr/>
          <p:nvPr/>
        </p:nvSpPr>
        <p:spPr>
          <a:xfrm>
            <a:off x="4895616" y="3319722"/>
            <a:ext cx="4128641" cy="3317853"/>
          </a:xfrm>
          <a:prstGeom prst="roundRect">
            <a:avLst>
              <a:gd name="adj" fmla="val 2063"/>
            </a:avLst>
          </a:prstGeom>
          <a:solidFill>
            <a:srgbClr val="F1F5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6FC0259-C80A-F3B6-9F54-FD02F0BF1581}"/>
              </a:ext>
            </a:extLst>
          </p:cNvPr>
          <p:cNvSpPr txBox="1"/>
          <p:nvPr/>
        </p:nvSpPr>
        <p:spPr>
          <a:xfrm>
            <a:off x="1471632" y="2018280"/>
            <a:ext cx="790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164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Purchase</a:t>
            </a:r>
            <a:endParaRPr lang="en-US" sz="1200" dirty="0">
              <a:solidFill>
                <a:srgbClr val="00164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C596C920-2DE1-133E-1D8F-36ABA41C373A}"/>
              </a:ext>
            </a:extLst>
          </p:cNvPr>
          <p:cNvSpPr txBox="1"/>
          <p:nvPr/>
        </p:nvSpPr>
        <p:spPr>
          <a:xfrm>
            <a:off x="2845223" y="2018280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164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Approval</a:t>
            </a:r>
            <a:endParaRPr lang="en-US" sz="1200" dirty="0">
              <a:solidFill>
                <a:srgbClr val="00164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C64B4108-C879-1F0F-FE36-63558248AF7B}"/>
              </a:ext>
            </a:extLst>
          </p:cNvPr>
          <p:cNvSpPr txBox="1"/>
          <p:nvPr/>
        </p:nvSpPr>
        <p:spPr>
          <a:xfrm>
            <a:off x="4219262" y="2018280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164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Carrier</a:t>
            </a:r>
            <a:endParaRPr lang="en-US" sz="1200" dirty="0">
              <a:solidFill>
                <a:srgbClr val="00164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7E25985-4224-6CB0-6AE8-14BF9B9D4001}"/>
              </a:ext>
            </a:extLst>
          </p:cNvPr>
          <p:cNvSpPr txBox="1"/>
          <p:nvPr/>
        </p:nvSpPr>
        <p:spPr>
          <a:xfrm>
            <a:off x="5436207" y="2018280"/>
            <a:ext cx="839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164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</a:t>
            </a:r>
            <a:endParaRPr lang="en-US" sz="1200" dirty="0">
              <a:solidFill>
                <a:srgbClr val="00164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Geschweifte Klammer links 45">
            <a:extLst>
              <a:ext uri="{FF2B5EF4-FFF2-40B4-BE49-F238E27FC236}">
                <a16:creationId xmlns:a16="http://schemas.microsoft.com/office/drawing/2014/main" id="{6E0B983D-16E2-4F1E-7AF0-A8B5B7DA6E20}"/>
              </a:ext>
            </a:extLst>
          </p:cNvPr>
          <p:cNvSpPr/>
          <p:nvPr/>
        </p:nvSpPr>
        <p:spPr>
          <a:xfrm rot="5400000">
            <a:off x="3707508" y="-647555"/>
            <a:ext cx="331898" cy="4749583"/>
          </a:xfrm>
          <a:prstGeom prst="leftBrace">
            <a:avLst/>
          </a:prstGeom>
          <a:ln>
            <a:solidFill>
              <a:srgbClr val="C5D7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6CDBD61-329E-2144-DF91-72B69DADAB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9025" y="295472"/>
            <a:ext cx="693737" cy="32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09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7BB97-7587-D792-6BC8-E04F5718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B72C69C-57E6-1629-617E-D64D4F8660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861" t="-1" r="1016" b="461"/>
          <a:stretch>
            <a:fillRect/>
          </a:stretch>
        </p:blipFill>
        <p:spPr>
          <a:xfrm>
            <a:off x="0" y="-58242"/>
            <a:ext cx="12191999" cy="6987838"/>
          </a:xfrm>
          <a:prstGeom prst="rect">
            <a:avLst/>
          </a:prstGeom>
          <a:solidFill>
            <a:srgbClr val="6AAEFE"/>
          </a:solidFill>
        </p:spPr>
      </p:pic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4A8732F-DD10-8933-9634-AA083978C6BE}"/>
              </a:ext>
            </a:extLst>
          </p:cNvPr>
          <p:cNvSpPr/>
          <p:nvPr/>
        </p:nvSpPr>
        <p:spPr>
          <a:xfrm>
            <a:off x="64769" y="83938"/>
            <a:ext cx="12062460" cy="6703477"/>
          </a:xfrm>
          <a:prstGeom prst="roundRect">
            <a:avLst>
              <a:gd name="adj" fmla="val 867"/>
            </a:avLst>
          </a:prstGeom>
          <a:solidFill>
            <a:srgbClr val="E6EFFD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50800" dir="5400000" sx="94000" sy="94000" algn="ctr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160A312-B77D-8A4B-B4AC-3F0D4CC3EBE5}"/>
              </a:ext>
            </a:extLst>
          </p:cNvPr>
          <p:cNvSpPr/>
          <p:nvPr/>
        </p:nvSpPr>
        <p:spPr>
          <a:xfrm>
            <a:off x="1303021" y="158868"/>
            <a:ext cx="10756458" cy="6520228"/>
          </a:xfrm>
          <a:prstGeom prst="roundRect">
            <a:avLst>
              <a:gd name="adj" fmla="val 1440"/>
            </a:avLst>
          </a:prstGeom>
          <a:solidFill>
            <a:srgbClr val="FBFBFB"/>
          </a:solidFill>
          <a:ln>
            <a:noFill/>
          </a:ln>
          <a:effectLst>
            <a:outerShdw blurRad="101600" dist="50800" dir="5400000" sx="94000" sy="94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fik 5" descr="Tiago Dalvi - CEO &amp; Fundador da Olist | LinkedIn">
            <a:extLst>
              <a:ext uri="{FF2B5EF4-FFF2-40B4-BE49-F238E27FC236}">
                <a16:creationId xmlns:a16="http://schemas.microsoft.com/office/drawing/2014/main" id="{59736047-99A0-029B-CC1D-A21E430AE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334" y="1336312"/>
            <a:ext cx="3761599" cy="107015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9D24546-5ECE-DF30-3E8A-A0FEC70FEC03}"/>
              </a:ext>
            </a:extLst>
          </p:cNvPr>
          <p:cNvSpPr txBox="1"/>
          <p:nvPr/>
        </p:nvSpPr>
        <p:spPr>
          <a:xfrm>
            <a:off x="1422382" y="220425"/>
            <a:ext cx="6637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164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Reviews, 01/2017 – 08/2018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CDD09C1-9CBB-83C1-DE0E-CF2F01732E75}"/>
              </a:ext>
            </a:extLst>
          </p:cNvPr>
          <p:cNvSpPr/>
          <p:nvPr/>
        </p:nvSpPr>
        <p:spPr>
          <a:xfrm>
            <a:off x="1387498" y="3319722"/>
            <a:ext cx="3575027" cy="3317853"/>
          </a:xfrm>
          <a:prstGeom prst="roundRect">
            <a:avLst>
              <a:gd name="adj" fmla="val 2063"/>
            </a:avLst>
          </a:prstGeom>
          <a:solidFill>
            <a:srgbClr val="F1F5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9D08B9FD-3B3B-5A75-1E02-730C8ABDC449}"/>
              </a:ext>
            </a:extLst>
          </p:cNvPr>
          <p:cNvSpPr/>
          <p:nvPr/>
        </p:nvSpPr>
        <p:spPr>
          <a:xfrm>
            <a:off x="3105024" y="754601"/>
            <a:ext cx="1390775" cy="1003979"/>
          </a:xfrm>
          <a:prstGeom prst="roundRect">
            <a:avLst>
              <a:gd name="adj" fmla="val 4726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59B26BDC-DD9D-4C97-C3E5-5654A85B2340}"/>
              </a:ext>
            </a:extLst>
          </p:cNvPr>
          <p:cNvSpPr/>
          <p:nvPr/>
        </p:nvSpPr>
        <p:spPr>
          <a:xfrm>
            <a:off x="1387498" y="2590555"/>
            <a:ext cx="1574105" cy="641064"/>
          </a:xfrm>
          <a:prstGeom prst="roundRect">
            <a:avLst>
              <a:gd name="adj" fmla="val 6939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26BDE3BD-490E-6FDE-8D6E-E970D3540CFF}"/>
              </a:ext>
            </a:extLst>
          </p:cNvPr>
          <p:cNvSpPr/>
          <p:nvPr/>
        </p:nvSpPr>
        <p:spPr>
          <a:xfrm>
            <a:off x="1398278" y="1866899"/>
            <a:ext cx="1574105" cy="641064"/>
          </a:xfrm>
          <a:prstGeom prst="roundRect">
            <a:avLst>
              <a:gd name="adj" fmla="val 6781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E1AF58D-6C4E-7234-6455-5F45A6910879}"/>
              </a:ext>
            </a:extLst>
          </p:cNvPr>
          <p:cNvSpPr/>
          <p:nvPr/>
        </p:nvSpPr>
        <p:spPr>
          <a:xfrm>
            <a:off x="1398279" y="754602"/>
            <a:ext cx="1574105" cy="1003978"/>
          </a:xfrm>
          <a:prstGeom prst="roundRect">
            <a:avLst>
              <a:gd name="adj" fmla="val 5318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F453EBD7-3209-955B-19E2-D34C053C1AB9}"/>
              </a:ext>
            </a:extLst>
          </p:cNvPr>
          <p:cNvSpPr/>
          <p:nvPr/>
        </p:nvSpPr>
        <p:spPr>
          <a:xfrm>
            <a:off x="6118286" y="754602"/>
            <a:ext cx="5874947" cy="2474703"/>
          </a:xfrm>
          <a:prstGeom prst="roundRect">
            <a:avLst>
              <a:gd name="adj" fmla="val 1711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A17FD1A2-B7C7-9F2D-827C-AF072639A501}"/>
              </a:ext>
            </a:extLst>
          </p:cNvPr>
          <p:cNvSpPr/>
          <p:nvPr/>
        </p:nvSpPr>
        <p:spPr>
          <a:xfrm>
            <a:off x="5105167" y="3319722"/>
            <a:ext cx="4467458" cy="3317853"/>
          </a:xfrm>
          <a:prstGeom prst="roundRect">
            <a:avLst>
              <a:gd name="adj" fmla="val 2063"/>
            </a:avLst>
          </a:prstGeom>
          <a:solidFill>
            <a:srgbClr val="F1F5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A4AAD99-E46F-C6A1-C0DE-258054176201}"/>
              </a:ext>
            </a:extLst>
          </p:cNvPr>
          <p:cNvSpPr/>
          <p:nvPr/>
        </p:nvSpPr>
        <p:spPr>
          <a:xfrm>
            <a:off x="3110217" y="1866899"/>
            <a:ext cx="2899313" cy="1362405"/>
          </a:xfrm>
          <a:prstGeom prst="roundRect">
            <a:avLst>
              <a:gd name="adj" fmla="val 1885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D0344D33-F07E-56D6-237D-0EA9A96B3BCB}"/>
              </a:ext>
            </a:extLst>
          </p:cNvPr>
          <p:cNvSpPr/>
          <p:nvPr/>
        </p:nvSpPr>
        <p:spPr>
          <a:xfrm>
            <a:off x="4611654" y="754601"/>
            <a:ext cx="1390775" cy="1003979"/>
          </a:xfrm>
          <a:prstGeom prst="roundRect">
            <a:avLst>
              <a:gd name="adj" fmla="val 4726"/>
            </a:avLst>
          </a:prstGeom>
          <a:solidFill>
            <a:srgbClr val="E6EFFD">
              <a:alpha val="47000"/>
            </a:srgbClr>
          </a:solidFill>
          <a:ln w="6350">
            <a:solidFill>
              <a:srgbClr val="6AA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7E39FA7-D901-5196-9BCF-151B432786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9025" y="295472"/>
            <a:ext cx="693737" cy="32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49389"/>
      </p:ext>
    </p:extLst>
  </p:cSld>
  <p:clrMapOvr>
    <a:masterClrMapping/>
  </p:clrMapOvr>
</p:sld>
</file>

<file path=ppt/theme/theme1.xml><?xml version="1.0" encoding="utf-8"?>
<a:theme xmlns:a="http://schemas.openxmlformats.org/drawingml/2006/main" name="Rahmen">
  <a:themeElements>
    <a:clrScheme name="Rahmen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Rahmen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ahmen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TM03457475[[fn=Rahmen]]</Template>
  <TotalTime>0</TotalTime>
  <Words>34</Words>
  <Application>Microsoft Office PowerPoint</Application>
  <PresentationFormat>Breitbild</PresentationFormat>
  <Paragraphs>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Corbel</vt:lpstr>
      <vt:lpstr>Segoe UI</vt:lpstr>
      <vt:lpstr>Wingdings 2</vt:lpstr>
      <vt:lpstr>Rahmen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3052214521254030</dc:creator>
  <cp:lastModifiedBy>TU-Pseudonym 3052214521254030</cp:lastModifiedBy>
  <cp:revision>8</cp:revision>
  <dcterms:created xsi:type="dcterms:W3CDTF">2026-09-20T18:29:18Z</dcterms:created>
  <dcterms:modified xsi:type="dcterms:W3CDTF">2026-10-01T10:39:46Z</dcterms:modified>
</cp:coreProperties>
</file>